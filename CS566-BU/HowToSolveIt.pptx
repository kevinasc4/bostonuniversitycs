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5"/>
    <p:restoredTop sz="94633"/>
  </p:normalViewPr>
  <p:slideViewPr>
    <p:cSldViewPr snapToGrid="0" snapToObjects="1">
      <p:cViewPr varScale="1">
        <p:scale>
          <a:sx n="116" d="100"/>
          <a:sy n="116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FC5B2-39C7-604E-8748-D99E4A81B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D3D9C-A210-3A4F-847C-1BFAE0342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35D1D-F5D1-1A45-9EEB-C19DE583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E7ECB-52E8-5149-9C2D-8D014E9E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03C9F-449D-E749-ADF5-7F44C5E3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9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B7D3-D9CD-4545-8426-47F694A5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E8FB-F3B3-BE4F-A432-0AF013353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7A4F3-DF94-504D-BB23-806136C2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F5C9-30A8-3843-9B5B-D7062FA6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11CBC-AD83-0848-995C-AE1F97B8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0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8D93-90BD-F049-8853-ED721BEF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5CFF9-3234-1048-83AB-62DEDE870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AF33-35C5-774D-B536-A4E3739F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360AF-96A7-B047-B90C-D0E76850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2D5A-DCC9-674D-8FBC-E20BEAD5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2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9DE0A-6EF9-C440-85AF-39B3479B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DA4C5-3921-F845-8788-78464A89B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A8487-E921-734C-AA17-3783C0368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BA48C-9111-DB4C-B2EF-961185BE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469ED-1142-D542-A03D-F49E6AAB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CE9B2-EEDB-604D-A4BF-F596220C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7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65E7-31DE-E242-A9F7-543A7619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D313F-1A7E-A645-8331-07F2488EE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9FF1C-651E-B44E-A787-DA3B9FCB9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23C48-6972-A54C-8BD7-798A14CAE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2EC8B-9153-714E-A68B-9760FE8F0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EB1A9-A9DE-054E-BD00-A9689D79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3B68B-6779-D24C-A1CA-72201CF4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8E7B7-F229-4844-A290-882ED247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0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18B7-85B8-754F-898C-851646AF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1B74C-23E4-D743-BE9C-EF72F55B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B4196-4408-E148-8B64-E8F3C529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DFAE5-21EE-A245-AC67-921B3D83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D8F55-9135-F741-8177-607F6884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B0435-829B-8145-A1EC-BCB05296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097BA-A3BA-C348-8E5A-8B959141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808F-AED3-EC41-A614-02E7E253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62EC-ECB7-E948-A7A0-21CB0AD16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14EA8-A681-1141-8069-3D9F3501B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39AA5-BA94-3B4E-AF7B-C3423A33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FAF4D-9CF3-0942-A7C3-8DCD20D3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C1D44-AF13-B84F-B3F5-CD06B7FF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8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8E5C-4A24-D145-BE12-A93C1F38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DC4E93-77D4-764F-BC60-A3F3172D5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21178-AA45-FB4D-BBFB-4758467D0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405A8-333C-E94F-BB77-43900FC5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92F37-E6BC-EF4A-B0E9-8E7FF013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A3909-C723-644C-8B8E-AF2327C3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9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C0D2-522B-E745-AEC4-701EE25A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29EEF-2747-E345-BE57-27FD3887F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137F1-25DE-494E-92BB-54233F67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2D18C-D569-9241-8002-DA83C6DA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ADAD7-B5E2-3042-BE6F-E0667CD8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0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B7356-5984-6B43-B967-7C203E97B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95D9B-B99C-C541-B704-4BE106D49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0927-396C-CB44-BC92-E9B87112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DDF7-FAC4-1049-9B7D-DDC4B983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FCF54-225F-AD4B-A876-C41976B6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7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18C8D-E78F-0848-82B0-6F2623F8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C1F9A-F140-C44F-BB59-39954A89B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FF70C-D386-164C-A681-5699BE8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1E44A-401F-AA4A-9480-AE1805F230F8}" type="datetimeFigureOut">
              <a:rPr lang="en-US" smtClean="0"/>
              <a:t>12/4/19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86B3F-0416-E14C-A1E2-45CD4B45C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3AB0-D2E1-5147-BE37-031434FCD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F36F7-772D-D64D-8554-B073BA97E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4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6426-2346-C94D-AA4D-D83BEF0EF0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How to find the right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7B43A-57BC-E641-A6FC-EE07EF077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38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2990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C6A4-49DE-B94D-A420-0C09C1AB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AD1C-5E58-AE44-A87F-B9D2A06A4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class has been designed to strengthen your technical background. 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Knowing the concepts and differences in complexity between sorting, searching, greedy algorithms, graph algorithms,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When, why, and how to use common data structures such as lists, queues, stacks, heaps, hashes, 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98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0C4D-B452-6340-AA98-6A1C8F3B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Right Questions and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8C69A-186B-284A-A4D4-819DFEAD7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correct answer to “</a:t>
            </a:r>
            <a:r>
              <a:rPr lang="en-US" b="1" dirty="0">
                <a:solidFill>
                  <a:srgbClr val="C00000"/>
                </a:solidFill>
              </a:rPr>
              <a:t>Can I do it this way</a:t>
            </a:r>
            <a:r>
              <a:rPr lang="en-US" b="1" dirty="0"/>
              <a:t>?” is never “</a:t>
            </a:r>
            <a:r>
              <a:rPr lang="en-US" b="1" dirty="0">
                <a:solidFill>
                  <a:srgbClr val="C00000"/>
                </a:solidFill>
              </a:rPr>
              <a:t>no,” </a:t>
            </a:r>
            <a:r>
              <a:rPr lang="en-US" b="1" dirty="0"/>
              <a:t>but </a:t>
            </a:r>
            <a:r>
              <a:rPr lang="en-US" b="1" dirty="0">
                <a:solidFill>
                  <a:srgbClr val="C00000"/>
                </a:solidFill>
              </a:rPr>
              <a:t>“no, because. . . .” 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Strategy vs. Tactics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dirty="0"/>
              <a:t>“Can I model my application as a graph algorithm problem?”</a:t>
            </a:r>
          </a:p>
          <a:p>
            <a:pPr lvl="1"/>
            <a:r>
              <a:rPr lang="en-US" dirty="0"/>
              <a:t>“Should I use an adjacency list or adjacency matrix data structure to represent my graph?”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ACAC-C3EA-0F4E-853F-B20612D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Do I really understand the problem?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3903-C5CF-0745-825E-899EF79D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exactly does the input consist of?</a:t>
            </a:r>
          </a:p>
          <a:p>
            <a:r>
              <a:rPr lang="en-US" dirty="0"/>
              <a:t>What exactly are the desired results or output?</a:t>
            </a:r>
          </a:p>
          <a:p>
            <a:r>
              <a:rPr lang="en-US" dirty="0"/>
              <a:t>Can I construct an input example small enough to solve by hand? </a:t>
            </a:r>
          </a:p>
          <a:p>
            <a:r>
              <a:rPr lang="en-US" dirty="0"/>
              <a:t>How important is it to my application that I always find the optimal</a:t>
            </a:r>
          </a:p>
          <a:p>
            <a:pPr marL="0" indent="0">
              <a:buNone/>
            </a:pPr>
            <a:r>
              <a:rPr lang="en-US" dirty="0"/>
              <a:t>   answer?</a:t>
            </a:r>
          </a:p>
          <a:p>
            <a:r>
              <a:rPr lang="en-US" dirty="0"/>
              <a:t>How large is a typical instance of my problem?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83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ACAC-C3EA-0F4E-853F-B20612D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Do I really understand the problem?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3903-C5CF-0745-825E-899EF79D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important is speed in my application?</a:t>
            </a:r>
          </a:p>
          <a:p>
            <a:r>
              <a:rPr lang="en-US" dirty="0"/>
              <a:t>How much time and effort can I invest in implementation?</a:t>
            </a:r>
          </a:p>
          <a:p>
            <a:r>
              <a:rPr lang="en-US" dirty="0"/>
              <a:t>Am I trying to solve </a:t>
            </a:r>
          </a:p>
          <a:p>
            <a:pPr lvl="1"/>
            <a:r>
              <a:rPr lang="en-US" dirty="0"/>
              <a:t>A numerical problem? </a:t>
            </a:r>
          </a:p>
          <a:p>
            <a:pPr lvl="1"/>
            <a:r>
              <a:rPr lang="en-US" dirty="0"/>
              <a:t>A graph algorithm problem?</a:t>
            </a:r>
          </a:p>
          <a:p>
            <a:pPr lvl="1"/>
            <a:r>
              <a:rPr lang="en-US" dirty="0"/>
              <a:t>A geometric problem? </a:t>
            </a:r>
          </a:p>
          <a:p>
            <a:pPr lvl="1"/>
            <a:r>
              <a:rPr lang="en-US" dirty="0"/>
              <a:t>A string problem? </a:t>
            </a:r>
          </a:p>
          <a:p>
            <a:pPr lvl="1"/>
            <a:r>
              <a:rPr lang="en-US" dirty="0"/>
              <a:t>A set problem? </a:t>
            </a:r>
          </a:p>
          <a:p>
            <a:r>
              <a:rPr lang="en-US" dirty="0"/>
              <a:t>Which  formulation seems easiest?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1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5FD9-BC8B-C84F-B037-D229F889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2" y="500062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Can I find a simple algorithm or heuristic for my problem?</a:t>
            </a:r>
            <a:br>
              <a:rPr lang="en-US" sz="3600" b="1" dirty="0">
                <a:solidFill>
                  <a:srgbClr val="C00000"/>
                </a:solidFill>
              </a:rPr>
            </a:b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3FA2-92D6-A54A-8EB1-9724C514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brute force solve my problem correctly by searching through all subsets or arrangements and picking the best one?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If so, why am I sure that this algorithm always gives the correct answer?</a:t>
            </a:r>
          </a:p>
          <a:p>
            <a:pPr lvl="1"/>
            <a:r>
              <a:rPr lang="en-US" dirty="0"/>
              <a:t>How do I measure the quality of a solution once I construct it?</a:t>
            </a:r>
          </a:p>
          <a:p>
            <a:pPr lvl="1"/>
            <a:r>
              <a:rPr lang="en-US" dirty="0"/>
              <a:t>Does this simple, slow solution run in polynomial or exponential time? </a:t>
            </a:r>
          </a:p>
          <a:p>
            <a:pPr lvl="1"/>
            <a:r>
              <a:rPr lang="en-US" dirty="0"/>
              <a:t>Am I certain that my problem is sufficiently well defined to actually have a correct solution?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78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5FD9-BC8B-C84F-B037-D229F889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2" y="500062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Can I find a simple algorithm or heuristic for my problem?</a:t>
            </a:r>
            <a:br>
              <a:rPr lang="en-US" sz="3600" b="1" dirty="0">
                <a:solidFill>
                  <a:srgbClr val="C00000"/>
                </a:solidFill>
              </a:rPr>
            </a:b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3FA2-92D6-A54A-8EB1-9724C514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Can I solve my problem by repeatedly trying some simple rule, like picking </a:t>
            </a:r>
          </a:p>
          <a:p>
            <a:pPr lvl="1"/>
            <a:r>
              <a:rPr lang="en-US" dirty="0"/>
              <a:t>the biggest item first? </a:t>
            </a:r>
          </a:p>
          <a:p>
            <a:pPr lvl="1"/>
            <a:r>
              <a:rPr lang="en-US" dirty="0"/>
              <a:t>The smallest item first? </a:t>
            </a:r>
          </a:p>
          <a:p>
            <a:pPr lvl="1"/>
            <a:r>
              <a:rPr lang="en-US" dirty="0"/>
              <a:t>A random item first?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If so, </a:t>
            </a:r>
          </a:p>
          <a:p>
            <a:pPr lvl="1"/>
            <a:r>
              <a:rPr lang="en-US" dirty="0"/>
              <a:t>on what types of inputs does this heuristic work well? </a:t>
            </a:r>
          </a:p>
          <a:p>
            <a:pPr lvl="1"/>
            <a:r>
              <a:rPr lang="en-US" dirty="0"/>
              <a:t>on what types of inputs does this heuristic work badly?</a:t>
            </a:r>
          </a:p>
          <a:p>
            <a:pPr lvl="1"/>
            <a:r>
              <a:rPr lang="en-US" dirty="0"/>
              <a:t>can I show that it always works well?</a:t>
            </a:r>
          </a:p>
          <a:p>
            <a:endParaRPr lang="en-US" dirty="0"/>
          </a:p>
          <a:p>
            <a:r>
              <a:rPr lang="en-US" dirty="0"/>
              <a:t>Do these correspond to the data that might arise in my application?</a:t>
            </a:r>
          </a:p>
          <a:p>
            <a:r>
              <a:rPr lang="en-US" dirty="0"/>
              <a:t>How fast does my heuristic come up with an answer? </a:t>
            </a:r>
          </a:p>
          <a:p>
            <a:r>
              <a:rPr lang="en-US" dirty="0"/>
              <a:t>Does it have a simple implementation?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3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98C8-837F-B749-8E02-ABAFBF49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30797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Is my problem in the catalog of algorithmic problems in the recommended textbooks</a:t>
            </a:r>
            <a:r>
              <a:rPr lang="en-US" sz="3600" dirty="0"/>
              <a:t>.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C8518-8305-D041-8B36-151C6C4AD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known about the problem?  </a:t>
            </a:r>
          </a:p>
          <a:p>
            <a:r>
              <a:rPr lang="en-US" dirty="0"/>
              <a:t>Is there an implementation available that I can use?</a:t>
            </a:r>
          </a:p>
          <a:p>
            <a:r>
              <a:rPr lang="en-US" dirty="0"/>
              <a:t>Did I look in the right place for my problem? </a:t>
            </a:r>
          </a:p>
          <a:p>
            <a:r>
              <a:rPr lang="en-US" dirty="0"/>
              <a:t>Did I browse through all pictures? </a:t>
            </a:r>
          </a:p>
          <a:p>
            <a:r>
              <a:rPr lang="en-US" dirty="0"/>
              <a:t>Did I look in the index under all possible keywords?</a:t>
            </a:r>
          </a:p>
          <a:p>
            <a:r>
              <a:rPr lang="en-US" dirty="0"/>
              <a:t>Are there relevant resources available on the World Wide Web? 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759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3E80-57E3-C345-8D96-623D23E3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2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Are there special cases of the problem that I know how to solve?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8516-1B54-7A45-A497-9308A385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 solve the problem efficiently when I ignore some of the input parameters?</a:t>
            </a:r>
          </a:p>
          <a:p>
            <a:r>
              <a:rPr lang="en-US" dirty="0"/>
              <a:t>Does the problem become easier to solve when I set some of the input parameters to trivial values, such as 0 or 1?</a:t>
            </a:r>
          </a:p>
          <a:p>
            <a:r>
              <a:rPr lang="en-US" dirty="0"/>
              <a:t>Can I simplify the problem to the point where I can solve it efficiently?</a:t>
            </a:r>
          </a:p>
          <a:p>
            <a:r>
              <a:rPr lang="en-US" dirty="0"/>
              <a:t>Why can’t this special-case algorithm be generalized to a wider class of inputs?</a:t>
            </a:r>
          </a:p>
          <a:p>
            <a:r>
              <a:rPr lang="en-US" dirty="0"/>
              <a:t>Is my problem a special case of a more general problem in the catalog?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3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977B-AE89-564B-85EA-DFE1B3FF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Which of the standard algorithm design paradigms are most relevant to my problem?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F6DB2-A7A0-8140-8128-4240F59E5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a set of items that can be sorted by size or some key? </a:t>
            </a:r>
          </a:p>
          <a:p>
            <a:r>
              <a:rPr lang="en-US" dirty="0"/>
              <a:t>Does this sorted order make it easier to find the answer?</a:t>
            </a:r>
          </a:p>
          <a:p>
            <a:r>
              <a:rPr lang="en-US" dirty="0"/>
              <a:t>Is there a way to split the problem in two smaller problems, perhaps by doing a binary search? </a:t>
            </a:r>
          </a:p>
          <a:p>
            <a:r>
              <a:rPr lang="en-US" dirty="0"/>
              <a:t>How about partitioning the elements into big and small, or left and right? </a:t>
            </a:r>
          </a:p>
          <a:p>
            <a:r>
              <a:rPr lang="en-US" dirty="0"/>
              <a:t>Does this suggest a divide-and-conquer algorithm?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7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0E15-984D-424F-9055-A7834EFC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49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FF0000"/>
                </a:solidFill>
              </a:rPr>
              <a:t>Which of the standard algorithm design paradigms are most relevant to my problem?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4C174-22D7-FB49-9BF6-AAD1F1EE7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the input objects or desired solution have a natural left-to-right</a:t>
            </a:r>
          </a:p>
          <a:p>
            <a:pPr marL="0" indent="0">
              <a:buNone/>
            </a:pPr>
            <a:r>
              <a:rPr lang="en-US" dirty="0"/>
              <a:t>   order, such as characters in a string, elements of a permutation, </a:t>
            </a:r>
          </a:p>
          <a:p>
            <a:pPr marL="0" indent="0">
              <a:buNone/>
            </a:pPr>
            <a:r>
              <a:rPr lang="en-US" dirty="0"/>
              <a:t>   or leaves of a tree? </a:t>
            </a:r>
          </a:p>
          <a:p>
            <a:r>
              <a:rPr lang="en-US" dirty="0"/>
              <a:t>Can I use dynamic programming to exploit this order?</a:t>
            </a:r>
          </a:p>
          <a:p>
            <a:r>
              <a:rPr lang="en-US" dirty="0"/>
              <a:t>Are there certain operations being done repeatedly, such as searching</a:t>
            </a:r>
            <a:r>
              <a:rPr lang="en-US"/>
              <a:t>, or finding </a:t>
            </a:r>
            <a:r>
              <a:rPr lang="en-US" dirty="0"/>
              <a:t>the largest/smallest element</a:t>
            </a:r>
            <a:r>
              <a:rPr lang="en-US"/>
              <a:t>? 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97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FAC9-3A3E-A348-AD94-8EE6727C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 </a:t>
            </a:r>
            <a:r>
              <a:rPr lang="en-US" b="1" dirty="0">
                <a:solidFill>
                  <a:srgbClr val="C00000"/>
                </a:solidFill>
              </a:rPr>
              <a:t>Am I still stumped?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29D46-3B92-7645-85B3-4D0A7832A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don’t I go back to the beginning and work through these questions again?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Did any of my answers change during my latest trip through the list?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Am I willing to spend money to hire an expert to tell me what to do? </a:t>
            </a:r>
          </a:p>
        </p:txBody>
      </p:sp>
    </p:spTree>
    <p:extLst>
      <p:ext uri="{BB962C8B-B14F-4D97-AF65-F5344CB8AC3E}">
        <p14:creationId xmlns:p14="http://schemas.microsoft.com/office/powerpoint/2010/main" val="208599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F495-8C4B-9F43-B5F4-EE7D1197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ABC0C-37E2-E94D-BDF0-0AB029EE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Problem-solving is not a science,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but part art and part skill.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It is one of the skills most worth developing.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0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865</Words>
  <Application>Microsoft Macintosh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How to find the right Algorithm</vt:lpstr>
      <vt:lpstr> </vt:lpstr>
      <vt:lpstr>Right Questions and Answers</vt:lpstr>
      <vt:lpstr>Do I really understand the problem? </vt:lpstr>
      <vt:lpstr>Do I really understand the problem? </vt:lpstr>
      <vt:lpstr>Can I find a simple algorithm or heuristic for my problem? </vt:lpstr>
      <vt:lpstr>Can I find a simple algorithm or heuristic for my problem? </vt:lpstr>
      <vt:lpstr>Is my problem in the catalog of algorithmic problems in the recommended textbooks. </vt:lpstr>
      <vt:lpstr>Are there special cases of the problem that I know how to solve? </vt:lpstr>
      <vt:lpstr>Which of the standard algorithm design paradigms are most relevant to my problem? </vt:lpstr>
      <vt:lpstr>Which of the standard algorithm design paradigms are most relevant to my problem? </vt:lpstr>
      <vt:lpstr> Am I still stumped? </vt:lpstr>
      <vt:lpstr> 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Right Stuff</dc:title>
  <dc:creator>Microsoft Office User</dc:creator>
  <cp:lastModifiedBy>Microsoft Office User</cp:lastModifiedBy>
  <cp:revision>18</cp:revision>
  <dcterms:created xsi:type="dcterms:W3CDTF">2019-11-21T15:37:26Z</dcterms:created>
  <dcterms:modified xsi:type="dcterms:W3CDTF">2019-12-05T00:29:34Z</dcterms:modified>
</cp:coreProperties>
</file>